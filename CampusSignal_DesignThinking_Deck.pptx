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3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914400"/>
            <a:ext cx="12192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D8DAFF"/>
                </a:solidFill>
                <a:latin typeface="Segoe UI"/>
              </a:rPr>
              <a:t>DESIGN THINKING PROJECT</a:t>
            </a:r>
            <a:r>
              <a:rPr sz="1300" b="1">
                <a:solidFill>
                  <a:srgbClr val="D8DAFF"/>
                </a:solidFill>
                <a:latin typeface="Segoe UI"/>
              </a:rPr>
              <a:t>   ·   GROUP 4   ·   ECE DEPARTMENT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6825" y="1238250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62775" y="1238250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p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025" y="1447800"/>
            <a:ext cx="1123950" cy="1123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2781300"/>
            <a:ext cx="1219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Segoe UI"/>
              </a:rPr>
              <a:t>Campus</a:t>
            </a:r>
            <a:r>
              <a:rPr sz="6200" b="1">
                <a:solidFill>
                  <a:srgbClr val="F2A93B"/>
                </a:solidFill>
                <a:latin typeface="Segoe UI"/>
              </a:rPr>
              <a:t>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848099"/>
            <a:ext cx="1219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D8DAFF"/>
                </a:solidFill>
                <a:latin typeface="Segoe UI"/>
              </a:rPr>
              <a:t>“Signal, not noise.”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4343400"/>
            <a:ext cx="7810499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550" b="0">
                <a:solidFill>
                  <a:srgbClr val="B9BCE8"/>
                </a:solidFill>
                <a:latin typeface="Segoe UI"/>
              </a:rPr>
              <a:t>Every hackathon, workshop, fest, internship and club meet at St. Xavier’s University — gathered into one calm, personal feed for every student.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33475" y="5391150"/>
            <a:ext cx="2381250" cy="40005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D8DAFF"/>
                </a:solidFill>
                <a:latin typeface="Segoe UI"/>
              </a:rPr>
              <a:t>BUILT FOR STUDENTS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48075" y="5391150"/>
            <a:ext cx="2381250" cy="40005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D8DAFF"/>
                </a:solidFill>
                <a:latin typeface="Segoe UI"/>
              </a:rPr>
              <a:t>AI READS POSTERS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2675" y="5391150"/>
            <a:ext cx="2381250" cy="40005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D8DAFF"/>
                </a:solidFill>
                <a:latin typeface="Segoe UI"/>
              </a:rPr>
              <a:t>REMINDERS &amp; CALENDAR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77275" y="5391150"/>
            <a:ext cx="2381250" cy="40005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D8DAFF"/>
                </a:solidFill>
                <a:latin typeface="Segoe UI"/>
              </a:rPr>
              <a:t>A REAL WORKING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400800"/>
            <a:ext cx="12192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4A4FA0"/>
                </a:solidFill>
                <a:latin typeface="Segoe UI"/>
              </a:rPr>
              <a:t>● ● ● ● 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457200"/>
            <a:ext cx="323850" cy="28575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390525"/>
            <a:ext cx="85725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F55D6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704850"/>
            <a:ext cx="109728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100" b="1">
                <a:solidFill>
                  <a:srgbClr val="1B1B23"/>
                </a:solidFill>
                <a:latin typeface="Segoe UI"/>
              </a:rPr>
              <a:t>Great opportunities are getting lost in the noise.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600200"/>
            <a:ext cx="109728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4A4A5C"/>
                </a:solidFill>
                <a:latin typeface="Segoe UI"/>
              </a:rPr>
              <a:t>On campus, event information lives everywhere — and nowhere. Students miss hackathons, workshops and internships not because they don’t care, but because the details never reach them in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400" y="2400300"/>
            <a:ext cx="2057400" cy="2038349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4850" y="2609850"/>
            <a:ext cx="381000" cy="381000"/>
          </a:xfrm>
          <a:prstGeom prst="ellipse">
            <a:avLst/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850" y="2701290"/>
            <a:ext cx="381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850" y="3143250"/>
            <a:ext cx="1714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B1B23"/>
                </a:solidFill>
                <a:latin typeface="Segoe UI"/>
              </a:rPr>
              <a:t>WhatsApp groups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" y="3486150"/>
            <a:ext cx="1714500" cy="876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A4A5C"/>
                </a:solidFill>
                <a:latin typeface="Segoe UI"/>
              </a:rPr>
              <a:t>Announcements scroll away in minutes and get buried under hundreds of chats.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24150" y="2400300"/>
            <a:ext cx="2057400" cy="2038349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95600" y="2609850"/>
            <a:ext cx="381000" cy="381000"/>
          </a:xfrm>
          <a:prstGeom prst="ellipse">
            <a:avLst/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5600" y="2701290"/>
            <a:ext cx="381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5600" y="3143250"/>
            <a:ext cx="1714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B1B23"/>
                </a:solidFill>
                <a:latin typeface="Segoe UI"/>
              </a:rPr>
              <a:t>Paper posters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5600" y="3486150"/>
            <a:ext cx="1714500" cy="876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A4A5C"/>
                </a:solidFill>
                <a:latin typeface="Segoe UI"/>
              </a:rPr>
              <a:t>Pinned on boards and doors — easy to miss, and details are often unclear.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4900" y="2400300"/>
            <a:ext cx="2057400" cy="2038349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086350" y="2609850"/>
            <a:ext cx="381000" cy="381000"/>
          </a:xfrm>
          <a:prstGeom prst="ellipse">
            <a:avLst/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6350" y="2701290"/>
            <a:ext cx="381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6350" y="3143250"/>
            <a:ext cx="1714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B1B23"/>
                </a:solidFill>
                <a:latin typeface="Segoe UI"/>
              </a:rPr>
              <a:t>Email notices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6350" y="3486150"/>
            <a:ext cx="1714500" cy="876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A4A5C"/>
                </a:solidFill>
                <a:latin typeface="Segoe UI"/>
              </a:rPr>
              <a:t>Flooded inboxes mean important circulars go unread or unopened.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05650" y="2400300"/>
            <a:ext cx="2057400" cy="2038349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77100" y="2609850"/>
            <a:ext cx="381000" cy="381000"/>
          </a:xfrm>
          <a:prstGeom prst="ellipse">
            <a:avLst/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77100" y="2701290"/>
            <a:ext cx="381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77100" y="3143250"/>
            <a:ext cx="1714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B1B23"/>
                </a:solidFill>
                <a:latin typeface="Segoe UI"/>
              </a:rPr>
              <a:t>Word of mouth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7100" y="3486150"/>
            <a:ext cx="1714500" cy="876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A4A5C"/>
                </a:solidFill>
                <a:latin typeface="Segoe UI"/>
              </a:rPr>
              <a:t>Some students hear about events; many never do at all.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96400" y="2400300"/>
            <a:ext cx="2057400" cy="2038349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67850" y="2609850"/>
            <a:ext cx="381000" cy="381000"/>
          </a:xfrm>
          <a:prstGeom prst="ellipse">
            <a:avLst/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67850" y="2701290"/>
            <a:ext cx="381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7850" y="3143250"/>
            <a:ext cx="1714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B1B23"/>
                </a:solidFill>
                <a:latin typeface="Segoe UI"/>
              </a:rPr>
              <a:t>Missed deadlines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7850" y="3486150"/>
            <a:ext cx="1714500" cy="876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A4A5C"/>
                </a:solidFill>
                <a:latin typeface="Segoe UI"/>
              </a:rPr>
              <a:t>Registration often closes before students even know the event exists.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3400" y="4667250"/>
            <a:ext cx="10972800" cy="876300"/>
          </a:xfrm>
          <a:prstGeom prst="roundRect">
            <a:avLst>
              <a:gd name="adj" fmla="val 16000"/>
            </a:avLst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8200" y="5029200"/>
            <a:ext cx="133350" cy="13335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2050" y="4819650"/>
            <a:ext cx="10096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FFFFFF"/>
                </a:solidFill>
                <a:latin typeface="Segoe UI"/>
              </a:rPr>
              <a:t>Students don’t miss events because they are lazy — </a:t>
            </a:r>
            <a:r>
              <a:rPr sz="1450" b="1">
                <a:solidFill>
                  <a:srgbClr val="F2A93B"/>
                </a:solidFill>
                <a:latin typeface="Segoe UI"/>
              </a:rPr>
              <a:t>they miss them because the information is scattered.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3400" y="6457950"/>
            <a:ext cx="381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353ABD"/>
                </a:solidFill>
                <a:latin typeface="Segoe UI"/>
              </a:rPr>
              <a:t>CAMPUSSIGNAL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82250" y="6457950"/>
            <a:ext cx="12763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4A4A5C"/>
                </a:solidFill>
                <a:latin typeface="Segoe UI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457200"/>
            <a:ext cx="323850" cy="28575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390525"/>
            <a:ext cx="85725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F55D6"/>
                </a:solidFill>
                <a:latin typeface="Segoe U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704850"/>
            <a:ext cx="109728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100" b="1">
                <a:solidFill>
                  <a:srgbClr val="1B1B23"/>
                </a:solidFill>
                <a:latin typeface="Segoe UI"/>
              </a:rPr>
              <a:t>One calm, personal feed for everything happening on campus.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1695450"/>
            <a:ext cx="5905500" cy="8763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2950" y="1943100"/>
            <a:ext cx="381000" cy="381000"/>
          </a:xfrm>
          <a:prstGeom prst="ellipse">
            <a:avLst/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950" y="2034540"/>
            <a:ext cx="381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1809750"/>
            <a:ext cx="497205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1B23"/>
                </a:solidFill>
                <a:latin typeface="Segoe UI"/>
              </a:rPr>
              <a:t>It gathers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2076450"/>
            <a:ext cx="497205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A4A5C"/>
                </a:solidFill>
                <a:latin typeface="Segoe UI"/>
              </a:rPr>
              <a:t>Hackathons, workshops, internships, fests, club meets and seminars — collected in one trusted place.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400" y="2705100"/>
            <a:ext cx="5905500" cy="8763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2950" y="2952750"/>
            <a:ext cx="381000" cy="381000"/>
          </a:xfrm>
          <a:prstGeom prst="ellipse">
            <a:avLst/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950" y="3044190"/>
            <a:ext cx="381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2819400"/>
            <a:ext cx="497205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1B23"/>
                </a:solidFill>
                <a:latin typeface="Segoe UI"/>
              </a:rPr>
              <a:t>It listens to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400" y="3086100"/>
            <a:ext cx="497205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A4A5C"/>
                </a:solidFill>
                <a:latin typeface="Segoe UI"/>
              </a:rPr>
              <a:t>Your department, year and interests shape your personal feed, so the most relevant events surface first.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3400" y="3714750"/>
            <a:ext cx="5905500" cy="8763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2950" y="3962399"/>
            <a:ext cx="381000" cy="381000"/>
          </a:xfrm>
          <a:prstGeom prst="ellipse">
            <a:avLst/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4053840"/>
            <a:ext cx="381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400" y="3829050"/>
            <a:ext cx="497205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1B23"/>
                </a:solidFill>
                <a:latin typeface="Segoe UI"/>
              </a:rPr>
              <a:t>It catches what you’d miss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5400" y="4095750"/>
            <a:ext cx="497205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A4A5C"/>
                </a:solidFill>
                <a:latin typeface="Segoe UI"/>
              </a:rPr>
              <a:t>Deadline reminders, eligibility details and one-tap apply links keep you on top of every opportunity.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5300" y="1619250"/>
            <a:ext cx="3143250" cy="3543300"/>
          </a:xfrm>
          <a:prstGeom prst="roundRect">
            <a:avLst>
              <a:gd name="adj" fmla="val 12000"/>
            </a:avLst>
          </a:prstGeom>
          <a:solidFill>
            <a:srgbClr val="13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15300" y="1619250"/>
            <a:ext cx="3143250" cy="95250"/>
          </a:xfrm>
          <a:prstGeom prst="roundRect">
            <a:avLst>
              <a:gd name="adj" fmla="val 50000"/>
            </a:avLst>
          </a:prstGeom>
          <a:solidFill>
            <a:srgbClr val="4F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20100" y="188595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4F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72550" y="2000250"/>
            <a:ext cx="200025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CampusSignal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01050" y="2476500"/>
            <a:ext cx="742950" cy="247649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12700">
            <a:solidFill>
              <a:srgbClr val="3A3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ctr">
              <a:lnSpc>
                <a:spcPct val="112000"/>
              </a:lnSpc>
            </a:pPr>
            <a:r>
              <a:rPr sz="900" b="1">
                <a:solidFill>
                  <a:srgbClr val="422A00"/>
                </a:solidFill>
                <a:latin typeface="Segoe UI"/>
              </a:rPr>
              <a:t>For you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20200" y="2476500"/>
            <a:ext cx="914400" cy="247649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A3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ctr">
              <a:lnSpc>
                <a:spcPct val="112000"/>
              </a:lnSpc>
            </a:pPr>
            <a:r>
              <a:rPr sz="900" b="1">
                <a:solidFill>
                  <a:srgbClr val="FFFFFF"/>
                </a:solidFill>
                <a:latin typeface="Segoe UI"/>
              </a:rPr>
              <a:t>Hackathons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10800" y="2476500"/>
            <a:ext cx="914400" cy="247649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A3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ctr">
              <a:lnSpc>
                <a:spcPct val="112000"/>
              </a:lnSpc>
            </a:pPr>
            <a:r>
              <a:rPr sz="900" b="1">
                <a:solidFill>
                  <a:srgbClr val="FFFFFF"/>
                </a:solidFill>
                <a:latin typeface="Segoe UI"/>
              </a:rPr>
              <a:t>Workshops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81999" y="2876550"/>
            <a:ext cx="2590800" cy="533400"/>
          </a:xfrm>
          <a:prstGeom prst="roundRect">
            <a:avLst>
              <a:gd name="adj" fmla="val 16000"/>
            </a:avLst>
          </a:prstGeom>
          <a:solidFill>
            <a:srgbClr val="4F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bIns="73152"/>
          <a:lstStyle/>
          <a:p>
            <a:pPr algn="l">
              <a:lnSpc>
                <a:spcPct val="112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Hackathon · CSE &amp; all branches</a:t>
            </a: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B9BCE8"/>
                </a:solidFill>
                <a:latin typeface="Segoe UI"/>
              </a:rPr>
              <a:t>Deadline in 3 days · Registration open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81999" y="3524250"/>
            <a:ext cx="2590800" cy="533400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2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bIns="73152"/>
          <a:lstStyle/>
          <a:p>
            <a:pPr algn="l">
              <a:lnSpc>
                <a:spcPct val="112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Design Workshop</a:t>
            </a: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B9BCE8"/>
                </a:solidFill>
                <a:latin typeface="Segoe UI"/>
              </a:rPr>
              <a:t>Tomorrow · Room 204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81999" y="4171950"/>
            <a:ext cx="2590800" cy="533400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2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bIns="73152"/>
          <a:lstStyle/>
          <a:p>
            <a:pPr algn="l">
              <a:lnSpc>
                <a:spcPct val="112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Internship Drive</a:t>
            </a: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B9BCE8"/>
                </a:solidFill>
                <a:latin typeface="Segoe UI"/>
              </a:rPr>
              <a:t>Apply by Friday · Online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3400" y="5676900"/>
            <a:ext cx="10972800" cy="495299"/>
          </a:xfrm>
          <a:prstGeom prst="roundRect">
            <a:avLst>
              <a:gd name="adj" fmla="val 16000"/>
            </a:avLst>
          </a:prstGeom>
          <a:noFill/>
          <a:ln w="15875">
            <a:solidFill>
              <a:srgbClr val="6E7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3400" y="5676900"/>
            <a:ext cx="10972800" cy="4952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353ABD"/>
                </a:solidFill>
                <a:latin typeface="Segoe UI"/>
              </a:rPr>
              <a:t>What used to need five apps, three notice boards and a prayer — now fits in one feed.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3400" y="6457950"/>
            <a:ext cx="381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353ABD"/>
                </a:solidFill>
                <a:latin typeface="Segoe UI"/>
              </a:rPr>
              <a:t>CAMPUSSIGNAL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82250" y="6457950"/>
            <a:ext cx="12763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4A4A5C"/>
                </a:solidFill>
                <a:latin typeface="Segoe UI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457200"/>
            <a:ext cx="323850" cy="28575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390525"/>
            <a:ext cx="85725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F55D6"/>
                </a:solidFill>
                <a:latin typeface="Segoe UI"/>
              </a:rPr>
              <a:t>HOW A STUDENT USES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704850"/>
            <a:ext cx="109728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1B1B23"/>
                </a:solidFill>
                <a:latin typeface="Segoe UI"/>
              </a:rPr>
              <a:t>From one tap to the application — in four easy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1695450"/>
            <a:ext cx="2600325" cy="3143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900" y="1905000"/>
            <a:ext cx="2219325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2A93B"/>
                </a:solidFill>
                <a:latin typeface="Segoe UI"/>
              </a:rPr>
              <a:t>STEP 1</a:t>
            </a:r>
          </a:p>
        </p:txBody>
      </p:sp>
      <p:sp>
        <p:nvSpPr>
          <p:cNvPr id="8" name="Oval 7"/>
          <p:cNvSpPr/>
          <p:nvPr/>
        </p:nvSpPr>
        <p:spPr>
          <a:xfrm>
            <a:off x="723900" y="2209800"/>
            <a:ext cx="495299" cy="495299"/>
          </a:xfrm>
          <a:prstGeom prst="ellipse">
            <a:avLst/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2328672"/>
            <a:ext cx="495299" cy="3467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2895600"/>
            <a:ext cx="2219325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B1B23"/>
                </a:solidFill>
                <a:latin typeface="Segoe UI"/>
              </a:rPr>
              <a:t>Discover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3371850"/>
            <a:ext cx="2219325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4A4A5C"/>
                </a:solidFill>
                <a:latin typeface="Segoe UI"/>
              </a:rPr>
              <a:t>Open the feed. Events are sorted to match your department, year and interests — or search any category anytime.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4225" y="1695450"/>
            <a:ext cx="2600325" cy="3143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4725" y="1905000"/>
            <a:ext cx="2219325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2A93B"/>
                </a:solidFill>
                <a:latin typeface="Segoe UI"/>
              </a:rPr>
              <a:t>STEP 2</a:t>
            </a:r>
          </a:p>
        </p:txBody>
      </p:sp>
      <p:sp>
        <p:nvSpPr>
          <p:cNvPr id="14" name="Oval 13"/>
          <p:cNvSpPr/>
          <p:nvPr/>
        </p:nvSpPr>
        <p:spPr>
          <a:xfrm>
            <a:off x="3514725" y="2209800"/>
            <a:ext cx="495299" cy="495299"/>
          </a:xfrm>
          <a:prstGeom prst="ellipse">
            <a:avLst/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14725" y="2328672"/>
            <a:ext cx="495299" cy="3467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4725" y="2895600"/>
            <a:ext cx="2219325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B1B23"/>
                </a:solidFill>
                <a:latin typeface="Segoe UI"/>
              </a:rPr>
              <a:t>Understand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4725" y="3371850"/>
            <a:ext cx="2219325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4A4A5C"/>
                </a:solidFill>
                <a:latin typeface="Segoe UI"/>
              </a:rPr>
              <a:t>Tap any event to see dates, venue, who it’s for, and how to apply — all in one clean card.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15050" y="1695450"/>
            <a:ext cx="2600325" cy="3143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5550" y="1905000"/>
            <a:ext cx="2219325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2A93B"/>
                </a:solidFill>
                <a:latin typeface="Segoe UI"/>
              </a:rPr>
              <a:t>STEP 3</a:t>
            </a:r>
          </a:p>
        </p:txBody>
      </p:sp>
      <p:sp>
        <p:nvSpPr>
          <p:cNvPr id="20" name="Oval 19"/>
          <p:cNvSpPr/>
          <p:nvPr/>
        </p:nvSpPr>
        <p:spPr>
          <a:xfrm>
            <a:off x="6305550" y="2209800"/>
            <a:ext cx="495299" cy="495299"/>
          </a:xfrm>
          <a:prstGeom prst="ellipse">
            <a:avLst/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5550" y="2328672"/>
            <a:ext cx="495299" cy="3467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5550" y="2895600"/>
            <a:ext cx="2219325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B1B23"/>
                </a:solidFill>
                <a:latin typeface="Segoe UI"/>
              </a:rPr>
              <a:t>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5550" y="3371850"/>
            <a:ext cx="2219325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4A4A5C"/>
                </a:solidFill>
                <a:latin typeface="Segoe UI"/>
              </a:rPr>
              <a:t>Save events you like, add them to your phone calendar, and set a reminder before the deadline.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5875" y="1695450"/>
            <a:ext cx="2600325" cy="3143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6375" y="1905000"/>
            <a:ext cx="2219325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2A93B"/>
                </a:solidFill>
                <a:latin typeface="Segoe UI"/>
              </a:rPr>
              <a:t>STEP 4</a:t>
            </a:r>
          </a:p>
        </p:txBody>
      </p:sp>
      <p:sp>
        <p:nvSpPr>
          <p:cNvPr id="26" name="Oval 25"/>
          <p:cNvSpPr/>
          <p:nvPr/>
        </p:nvSpPr>
        <p:spPr>
          <a:xfrm>
            <a:off x="9096375" y="2209800"/>
            <a:ext cx="495299" cy="495299"/>
          </a:xfrm>
          <a:prstGeom prst="ellipse">
            <a:avLst/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6375" y="2328672"/>
            <a:ext cx="495299" cy="3467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6375" y="2895600"/>
            <a:ext cx="2219325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B1B23"/>
                </a:solidFill>
                <a:latin typeface="Segoe UI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6375" y="3371850"/>
            <a:ext cx="2219325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4A4A5C"/>
                </a:solidFill>
                <a:latin typeface="Segoe UI"/>
              </a:rPr>
              <a:t>Open the application link in one tap, and keep everything you’ve applied to in a single place.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3400" y="5143500"/>
            <a:ext cx="8477250" cy="533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6750" y="5143500"/>
            <a:ext cx="15240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53ABD"/>
                </a:solidFill>
                <a:latin typeface="Segoe UI"/>
              </a:rPr>
              <a:t>AT A GLANCE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09800" y="5295900"/>
            <a:ext cx="2114550" cy="228600"/>
          </a:xfrm>
          <a:prstGeom prst="roundRect">
            <a:avLst>
              <a:gd name="adj" fmla="val 50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1B1B23"/>
                </a:solidFill>
                <a:latin typeface="Segoe UI"/>
              </a:rPr>
              <a:t>Every department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19600" y="5295900"/>
            <a:ext cx="2343150" cy="228600"/>
          </a:xfrm>
          <a:prstGeom prst="roundRect">
            <a:avLst>
              <a:gd name="adj" fmla="val 50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1B1B23"/>
                </a:solidFill>
                <a:latin typeface="Segoe UI"/>
              </a:rPr>
              <a:t>8 event categories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5295900"/>
            <a:ext cx="3371850" cy="228600"/>
          </a:xfrm>
          <a:prstGeom prst="roundRect">
            <a:avLst>
              <a:gd name="adj" fmla="val 50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1B1B23"/>
                </a:solidFill>
                <a:latin typeface="Segoe UI"/>
              </a:rPr>
              <a:t>15 interests to personalise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63050" y="5143500"/>
            <a:ext cx="2343150" cy="533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391650" y="5295900"/>
            <a:ext cx="1905000" cy="228600"/>
          </a:xfrm>
          <a:prstGeom prst="roundRect">
            <a:avLst>
              <a:gd name="adj" fmla="val 50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1B1B23"/>
                </a:solidFill>
                <a:latin typeface="Segoe UI"/>
              </a:rPr>
              <a:t>Every deadline stored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3400" y="6457950"/>
            <a:ext cx="381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353ABD"/>
                </a:solidFill>
                <a:latin typeface="Segoe UI"/>
              </a:rPr>
              <a:t>CAMPUSSIGNAL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82250" y="6457950"/>
            <a:ext cx="12763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4A4A5C"/>
                </a:solidFill>
                <a:latin typeface="Segoe UI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457200"/>
            <a:ext cx="323850" cy="28575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390525"/>
            <a:ext cx="85725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F55D6"/>
                </a:solidFill>
                <a:latin typeface="Segoe UI"/>
              </a:rPr>
              <a:t>WHAT THE APP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704850"/>
            <a:ext cx="109728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1B1B23"/>
                </a:solidFill>
                <a:latin typeface="Segoe UI"/>
              </a:rPr>
              <a:t>Helpful features, built for real students.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1676400"/>
            <a:ext cx="3543300" cy="1714500"/>
          </a:xfrm>
          <a:prstGeom prst="roundRect">
            <a:avLst>
              <a:gd name="adj" fmla="val 16000"/>
            </a:avLst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23900" y="1847850"/>
            <a:ext cx="419100" cy="5715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900" y="2038349"/>
            <a:ext cx="31623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AI that reads posters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2400300"/>
            <a:ext cx="3162300" cy="876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D8DAFF"/>
                </a:solidFill>
                <a:latin typeface="Segoe UI"/>
              </a:rPr>
              <a:t>Snap a photo of any campus poster. The app turns it into a clean, complete event card — no typing needed.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48150" y="1676400"/>
            <a:ext cx="3543300" cy="1714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8650" y="1847850"/>
            <a:ext cx="419100" cy="57150"/>
          </a:xfrm>
          <a:prstGeom prst="roundRect">
            <a:avLst>
              <a:gd name="adj" fmla="val 50000"/>
            </a:avLst>
          </a:prstGeom>
          <a:solidFill>
            <a:srgbClr val="4F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8650" y="2038349"/>
            <a:ext cx="31623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1B23"/>
                </a:solidFill>
                <a:latin typeface="Segoe UI"/>
              </a:rPr>
              <a:t>A feed made for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8650" y="2400300"/>
            <a:ext cx="3162300" cy="876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4A4A5C"/>
                </a:solidFill>
                <a:latin typeface="Segoe UI"/>
              </a:rPr>
              <a:t>Events are matched to your department, year and interests, so the right ones float to the top.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62900" y="1676400"/>
            <a:ext cx="3543300" cy="1714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53399" y="1847850"/>
            <a:ext cx="419100" cy="57150"/>
          </a:xfrm>
          <a:prstGeom prst="roundRect">
            <a:avLst>
              <a:gd name="adj" fmla="val 50000"/>
            </a:avLst>
          </a:prstGeom>
          <a:solidFill>
            <a:srgbClr val="4F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3399" y="2038349"/>
            <a:ext cx="31623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1B23"/>
                </a:solidFill>
                <a:latin typeface="Segoe UI"/>
              </a:rPr>
              <a:t>Search &amp; filters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3399" y="2400300"/>
            <a:ext cx="3162300" cy="876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4A4A5C"/>
                </a:solidFill>
                <a:latin typeface="Segoe UI"/>
              </a:rPr>
              <a:t>Find anything in seconds — by category, deadline, format or who it’s open 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3400" y="3524250"/>
            <a:ext cx="3543300" cy="1714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3900" y="3695700"/>
            <a:ext cx="419100" cy="57150"/>
          </a:xfrm>
          <a:prstGeom prst="roundRect">
            <a:avLst>
              <a:gd name="adj" fmla="val 50000"/>
            </a:avLst>
          </a:prstGeom>
          <a:solidFill>
            <a:srgbClr val="4F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900" y="3886200"/>
            <a:ext cx="31623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1B23"/>
                </a:solidFill>
                <a:latin typeface="Segoe UI"/>
              </a:rPr>
              <a:t>Save &amp; apply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4248150"/>
            <a:ext cx="3162300" cy="876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4A4A5C"/>
                </a:solidFill>
                <a:latin typeface="Segoe UI"/>
              </a:rPr>
              <a:t>Bookmark events you care about and jump straight to the application page.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48150" y="3524250"/>
            <a:ext cx="3543300" cy="1714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38650" y="3695700"/>
            <a:ext cx="419100" cy="57150"/>
          </a:xfrm>
          <a:prstGeom prst="roundRect">
            <a:avLst>
              <a:gd name="adj" fmla="val 50000"/>
            </a:avLst>
          </a:prstGeom>
          <a:solidFill>
            <a:srgbClr val="4F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8650" y="3886200"/>
            <a:ext cx="31623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1B23"/>
                </a:solidFill>
                <a:latin typeface="Segoe UI"/>
              </a:rPr>
              <a:t>Calendar &amp; reminders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8650" y="4248150"/>
            <a:ext cx="3162300" cy="876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4A4A5C"/>
                </a:solidFill>
                <a:latin typeface="Segoe UI"/>
              </a:rPr>
              <a:t>Add events to your phone calendar in one tap, with alerts before deadlines.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62900" y="3524250"/>
            <a:ext cx="3543300" cy="1714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53399" y="3695700"/>
            <a:ext cx="419100" cy="57150"/>
          </a:xfrm>
          <a:prstGeom prst="roundRect">
            <a:avLst>
              <a:gd name="adj" fmla="val 50000"/>
            </a:avLst>
          </a:prstGeom>
          <a:solidFill>
            <a:srgbClr val="4F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53399" y="3886200"/>
            <a:ext cx="31623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1B23"/>
                </a:solidFill>
                <a:latin typeface="Segoe UI"/>
              </a:rPr>
              <a:t>Easy on the eyes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3399" y="4248150"/>
            <a:ext cx="3162300" cy="876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4A4A5C"/>
                </a:solidFill>
                <a:latin typeface="Segoe UI"/>
              </a:rPr>
              <a:t>Light and dark themes that follow your device — comfortable day or night.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" y="6457950"/>
            <a:ext cx="381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353ABD"/>
                </a:solidFill>
                <a:latin typeface="Segoe UI"/>
              </a:rPr>
              <a:t>CAMPUSSIGNAL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82250" y="6457950"/>
            <a:ext cx="12763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4A4A5C"/>
                </a:solidFill>
                <a:latin typeface="Segoe UI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419100"/>
            <a:ext cx="323850" cy="28575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352425"/>
            <a:ext cx="85725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F55D6"/>
                </a:solidFill>
                <a:latin typeface="Segoe UI"/>
              </a:rPr>
              <a:t>HOW OUR DATA IS ORGANISED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66750"/>
            <a:ext cx="109728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>
                <a:solidFill>
                  <a:srgbClr val="1B1B23"/>
                </a:solidFill>
                <a:latin typeface="Segoe UI"/>
              </a:rPr>
              <a:t>The data map — the building blocks behind the 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219200"/>
            <a:ext cx="109728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4A4A5C"/>
                </a:solidFill>
                <a:latin typeface="Segoe UI"/>
              </a:rPr>
              <a:t>Every screen rests on a few simple groups of information, connected in friendly ways.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7749" y="3105150"/>
            <a:ext cx="2609850" cy="173355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00150" y="3238500"/>
            <a:ext cx="285750" cy="285750"/>
          </a:xfrm>
          <a:prstGeom prst="roundRect">
            <a:avLst>
              <a:gd name="adj" fmla="val 24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81150" y="3276600"/>
            <a:ext cx="20002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23"/>
                </a:solidFill>
                <a:latin typeface="Segoe UI"/>
              </a:rPr>
              <a:t>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600450"/>
            <a:ext cx="23050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A4A5C"/>
                </a:solidFill>
                <a:latin typeface="Segoe UI"/>
              </a:rPr>
              <a:t>department ·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150" y="3790949"/>
            <a:ext cx="23050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A4A5C"/>
                </a:solidFill>
                <a:latin typeface="Segoe UI"/>
              </a:rPr>
              <a:t>interests · skills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00150" y="4000500"/>
            <a:ext cx="2209800" cy="209550"/>
          </a:xfrm>
          <a:prstGeom prst="roundRect">
            <a:avLst>
              <a:gd name="adj" fmla="val 50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ctr">
              <a:lnSpc>
                <a:spcPct val="112000"/>
              </a:lnSpc>
            </a:pPr>
            <a:r>
              <a:rPr sz="900" b="1">
                <a:solidFill>
                  <a:srgbClr val="4F55D6"/>
                </a:solidFill>
                <a:latin typeface="Segoe UI"/>
              </a:rPr>
              <a:t>One profile per student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20100" y="1905000"/>
            <a:ext cx="2609850" cy="66675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72500" y="2038349"/>
            <a:ext cx="285750" cy="285750"/>
          </a:xfrm>
          <a:prstGeom prst="roundRect">
            <a:avLst>
              <a:gd name="adj" fmla="val 24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3500" y="2076450"/>
            <a:ext cx="20002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23"/>
                </a:solidFill>
                <a:latin typeface="Segoe UI"/>
              </a:rPr>
              <a:t>CLUB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2400300"/>
            <a:ext cx="23050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A4A5C"/>
                </a:solidFill>
                <a:latin typeface="Segoe UI"/>
              </a:rPr>
              <a:t>organises events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20100" y="3028950"/>
            <a:ext cx="2609850" cy="1866899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72500" y="3162300"/>
            <a:ext cx="285750" cy="285750"/>
          </a:xfrm>
          <a:prstGeom prst="roundRect">
            <a:avLst>
              <a:gd name="adj" fmla="val 24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3500" y="3200400"/>
            <a:ext cx="20002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23"/>
                </a:solidFill>
                <a:latin typeface="Segoe UI"/>
              </a:rPr>
              <a:t>EVENT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0" y="3524250"/>
            <a:ext cx="23050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A4A5C"/>
                </a:solidFill>
                <a:latin typeface="Segoe UI"/>
              </a:rPr>
              <a:t>title · dates · 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2500" y="3714750"/>
            <a:ext cx="23050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A4A5C"/>
                </a:solidFill>
                <a:latin typeface="Segoe UI"/>
              </a:rPr>
              <a:t>deadline · who it’s for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2500" y="3905249"/>
            <a:ext cx="23050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A4A5C"/>
                </a:solidFill>
                <a:latin typeface="Segoe UI"/>
              </a:rPr>
              <a:t>how to apply · organisers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72500" y="4114800"/>
            <a:ext cx="2209800" cy="209550"/>
          </a:xfrm>
          <a:prstGeom prst="roundRect">
            <a:avLst>
              <a:gd name="adj" fmla="val 50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ctr">
              <a:lnSpc>
                <a:spcPct val="112000"/>
              </a:lnSpc>
            </a:pPr>
            <a:r>
              <a:rPr sz="900" b="1">
                <a:solidFill>
                  <a:srgbClr val="4F55D6"/>
                </a:solidFill>
                <a:latin typeface="Segoe UI"/>
              </a:rPr>
              <a:t>Hackathon · Workshop · Fest 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20100" y="5124450"/>
            <a:ext cx="2609850" cy="476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4F55D6"/>
                </a:solidFill>
                <a:latin typeface="Segoe UI"/>
              </a:rPr>
              <a:t>Tags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4A4A5C"/>
                </a:solidFill>
                <a:latin typeface="Segoe UI"/>
              </a:rPr>
              <a:t>   match events to interests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57600" y="3133725"/>
            <a:ext cx="1485900" cy="0"/>
          </a:xfrm>
          <a:prstGeom prst="line">
            <a:avLst/>
          </a:prstGeom>
          <a:ln w="22225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181850" y="3133725"/>
            <a:ext cx="1238250" cy="0"/>
          </a:xfrm>
          <a:prstGeom prst="line">
            <a:avLst/>
          </a:prstGeom>
          <a:ln w="22225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657600" y="3571875"/>
            <a:ext cx="1485900" cy="0"/>
          </a:xfrm>
          <a:prstGeom prst="line">
            <a:avLst/>
          </a:prstGeom>
          <a:ln w="22225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181850" y="3571875"/>
            <a:ext cx="1238250" cy="0"/>
          </a:xfrm>
          <a:prstGeom prst="line">
            <a:avLst/>
          </a:prstGeom>
          <a:ln w="22225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657600" y="4010025"/>
            <a:ext cx="1485900" cy="0"/>
          </a:xfrm>
          <a:prstGeom prst="line">
            <a:avLst/>
          </a:prstGeom>
          <a:ln w="22225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181850" y="4010025"/>
            <a:ext cx="1238250" cy="0"/>
          </a:xfrm>
          <a:prstGeom prst="line">
            <a:avLst/>
          </a:prstGeom>
          <a:ln w="22225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657600" y="4448175"/>
            <a:ext cx="1485900" cy="0"/>
          </a:xfrm>
          <a:prstGeom prst="line">
            <a:avLst/>
          </a:prstGeom>
          <a:ln w="22225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181850" y="4448175"/>
            <a:ext cx="1238250" cy="0"/>
          </a:xfrm>
          <a:prstGeom prst="line">
            <a:avLst/>
          </a:prstGeom>
          <a:ln w="22225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143500" y="3009900"/>
            <a:ext cx="2038349" cy="2476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F5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353ABD"/>
                </a:solidFill>
                <a:latin typeface="Segoe UI"/>
              </a:rPr>
              <a:t>Bookmarks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43500" y="3448050"/>
            <a:ext cx="2038349" cy="2476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F5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353ABD"/>
                </a:solidFill>
                <a:latin typeface="Segoe UI"/>
              </a:rPr>
              <a:t>Reminders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43500" y="3886200"/>
            <a:ext cx="2038349" cy="2476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F5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353ABD"/>
                </a:solidFill>
                <a:latin typeface="Segoe UI"/>
              </a:rPr>
              <a:t>Alerts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43500" y="4324350"/>
            <a:ext cx="2038349" cy="2476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F5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353ABD"/>
                </a:solidFill>
                <a:latin typeface="Segoe UI"/>
              </a:rPr>
              <a:t>Applications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725025" y="2571750"/>
            <a:ext cx="0" cy="457200"/>
          </a:xfrm>
          <a:prstGeom prst="line">
            <a:avLst/>
          </a:prstGeom>
          <a:ln w="22225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725025" y="4895850"/>
            <a:ext cx="0" cy="228600"/>
          </a:xfrm>
          <a:prstGeom prst="line">
            <a:avLst/>
          </a:prstGeom>
          <a:ln w="22225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33400" y="5810250"/>
            <a:ext cx="10972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2000" y="581025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53ABD"/>
                </a:solidFill>
                <a:latin typeface="Segoe UI"/>
              </a:rPr>
              <a:t>IN PLAIN WORDS:  </a:t>
            </a:r>
            <a:r>
              <a:rPr sz="1200" b="0">
                <a:solidFill>
                  <a:srgbClr val="4A4A5C"/>
                </a:solidFill>
                <a:latin typeface="Segoe UI"/>
              </a:rPr>
              <a:t>one club can organise many events. Every event carries its dates, venue, deadline and rules. Students connect to events by saving, asking for reminders, getting alerts and applying.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3400" y="6457950"/>
            <a:ext cx="381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353ABD"/>
                </a:solidFill>
                <a:latin typeface="Segoe UI"/>
              </a:rPr>
              <a:t>CAMPUSSIGNAL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82250" y="6457950"/>
            <a:ext cx="12763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4A4A5C"/>
                </a:solidFill>
                <a:latin typeface="Segoe UI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419100"/>
            <a:ext cx="323850" cy="28575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352425"/>
            <a:ext cx="85725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F55D6"/>
                </a:solidFill>
                <a:latin typeface="Segoe UI"/>
              </a:rPr>
              <a:t>THE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66750"/>
            <a:ext cx="109728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>
                <a:solidFill>
                  <a:srgbClr val="1B1B23"/>
                </a:solidFill>
                <a:latin typeface="Segoe UI"/>
              </a:rPr>
              <a:t>Simple tools, working quietly behind the 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1676400"/>
            <a:ext cx="2400300" cy="1238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2950" y="1809750"/>
            <a:ext cx="323850" cy="323850"/>
          </a:xfrm>
          <a:prstGeom prst="roundRect">
            <a:avLst>
              <a:gd name="adj" fmla="val 24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2050" y="1828800"/>
            <a:ext cx="17145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B1B23"/>
                </a:solidFill>
                <a:latin typeface="Segoe UI"/>
              </a:rPr>
              <a:t>Holds all data safely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2209800"/>
            <a:ext cx="21336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A4A5C"/>
                </a:solidFill>
                <a:latin typeface="Segoe UI"/>
              </a:rPr>
              <a:t>Students, events, saves and reminders live 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950" y="2609850"/>
            <a:ext cx="1123950" cy="190500"/>
          </a:xfrm>
          <a:prstGeom prst="roundRect">
            <a:avLst>
              <a:gd name="adj" fmla="val 50000"/>
            </a:avLst>
          </a:prstGeom>
          <a:solidFill>
            <a:srgbClr val="4F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ctr">
              <a:lnSpc>
                <a:spcPct val="112000"/>
              </a:lnSpc>
            </a:pPr>
            <a:r>
              <a:rPr sz="900" b="1">
                <a:solidFill>
                  <a:srgbClr val="FFFFFF"/>
                </a:solidFill>
                <a:latin typeface="Segoe UI"/>
              </a:rPr>
              <a:t>Supabase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" y="3619500"/>
            <a:ext cx="2400300" cy="1238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2950" y="3752850"/>
            <a:ext cx="323850" cy="323850"/>
          </a:xfrm>
          <a:prstGeom prst="roundRect">
            <a:avLst>
              <a:gd name="adj" fmla="val 24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2050" y="3771900"/>
            <a:ext cx="17145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B1B23"/>
                </a:solidFill>
                <a:latin typeface="Segoe UI"/>
              </a:rPr>
              <a:t>Sign-in &amp; 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4152900"/>
            <a:ext cx="21336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A4A5C"/>
                </a:solidFill>
                <a:latin typeface="Segoe UI"/>
              </a:rPr>
              <a:t>College email or Google login, plus push alerts.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2950" y="4552950"/>
            <a:ext cx="1123950" cy="190500"/>
          </a:xfrm>
          <a:prstGeom prst="roundRect">
            <a:avLst>
              <a:gd name="adj" fmla="val 50000"/>
            </a:avLst>
          </a:prstGeom>
          <a:solidFill>
            <a:srgbClr val="4F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ctr">
              <a:lnSpc>
                <a:spcPct val="112000"/>
              </a:lnSpc>
            </a:pPr>
            <a:r>
              <a:rPr sz="900" b="1">
                <a:solidFill>
                  <a:srgbClr val="FFFFFF"/>
                </a:solidFill>
                <a:latin typeface="Segoe UI"/>
              </a:rPr>
              <a:t>Firebase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2100" y="1676400"/>
            <a:ext cx="2400300" cy="1238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15450" y="1809750"/>
            <a:ext cx="323850" cy="323850"/>
          </a:xfrm>
          <a:prstGeom prst="roundRect">
            <a:avLst>
              <a:gd name="adj" fmla="val 24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4550" y="1828800"/>
            <a:ext cx="17145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B1B23"/>
                </a:solidFill>
                <a:latin typeface="Segoe UI"/>
              </a:rPr>
              <a:t>Keeps posters in the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5450" y="2209800"/>
            <a:ext cx="21336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A4A5C"/>
                </a:solidFill>
                <a:latin typeface="Segoe UI"/>
              </a:rPr>
              <a:t>Poster images and app updates, delivered worldwide.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15450" y="2609850"/>
            <a:ext cx="1352550" cy="190500"/>
          </a:xfrm>
          <a:prstGeom prst="roundRect">
            <a:avLst>
              <a:gd name="adj" fmla="val 50000"/>
            </a:avLst>
          </a:prstGeom>
          <a:solidFill>
            <a:srgbClr val="4F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ctr">
              <a:lnSpc>
                <a:spcPct val="112000"/>
              </a:lnSpc>
            </a:pPr>
            <a:r>
              <a:rPr sz="900" b="1">
                <a:solidFill>
                  <a:srgbClr val="FFFFFF"/>
                </a:solidFill>
                <a:latin typeface="Segoe UI"/>
              </a:rPr>
              <a:t>Cloudflare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2100" y="3619500"/>
            <a:ext cx="2400300" cy="1238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15450" y="3752850"/>
            <a:ext cx="323850" cy="323850"/>
          </a:xfrm>
          <a:prstGeom prst="roundRect">
            <a:avLst>
              <a:gd name="adj" fmla="val 24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34550" y="3771900"/>
            <a:ext cx="17145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B1B23"/>
                </a:solidFill>
                <a:latin typeface="Segoe UI"/>
              </a:rPr>
              <a:t>Builds the app for 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5450" y="4152900"/>
            <a:ext cx="21336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A4A5C"/>
                </a:solidFill>
                <a:latin typeface="Segoe UI"/>
              </a:rPr>
              <a:t>Every new version is compiled and signed automatically.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15450" y="4552950"/>
            <a:ext cx="1809750" cy="190500"/>
          </a:xfrm>
          <a:prstGeom prst="roundRect">
            <a:avLst>
              <a:gd name="adj" fmla="val 50000"/>
            </a:avLst>
          </a:prstGeom>
          <a:solidFill>
            <a:srgbClr val="4F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ctr">
              <a:lnSpc>
                <a:spcPct val="112000"/>
              </a:lnSpc>
            </a:pPr>
            <a:r>
              <a:rPr sz="900" b="1">
                <a:solidFill>
                  <a:srgbClr val="FFFFFF"/>
                </a:solidFill>
                <a:latin typeface="Segoe UI"/>
              </a:rPr>
              <a:t>GitHub Actions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43500" y="1638300"/>
            <a:ext cx="1905000" cy="2952750"/>
          </a:xfrm>
          <a:prstGeom prst="roundRect">
            <a:avLst>
              <a:gd name="adj" fmla="val 12000"/>
            </a:avLst>
          </a:prstGeom>
          <a:solidFill>
            <a:srgbClr val="13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143500" y="1638300"/>
            <a:ext cx="1905000" cy="95250"/>
          </a:xfrm>
          <a:prstGeom prst="roundRect">
            <a:avLst>
              <a:gd name="adj" fmla="val 50000"/>
            </a:avLst>
          </a:prstGeom>
          <a:solidFill>
            <a:srgbClr val="4F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391150" y="1905000"/>
            <a:ext cx="400050" cy="400050"/>
          </a:xfrm>
          <a:prstGeom prst="roundRect">
            <a:avLst>
              <a:gd name="adj" fmla="val 24000"/>
            </a:avLst>
          </a:prstGeom>
          <a:solidFill>
            <a:srgbClr val="4F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67400" y="1981199"/>
            <a:ext cx="1047749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CampusSignal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34000" y="2438400"/>
            <a:ext cx="1524000" cy="476250"/>
          </a:xfrm>
          <a:prstGeom prst="roundRect">
            <a:avLst>
              <a:gd name="adj" fmla="val 16000"/>
            </a:avLst>
          </a:prstGeom>
          <a:solidFill>
            <a:srgbClr val="4F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36576" bIns="73152"/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Hackathon · CSE</a:t>
            </a:r>
          </a:p>
          <a:p>
            <a:pPr algn="l">
              <a:lnSpc>
                <a:spcPct val="112000"/>
              </a:lnSpc>
            </a:pPr>
            <a:r>
              <a:rPr sz="850" b="0">
                <a:solidFill>
                  <a:srgbClr val="B9BCE8"/>
                </a:solidFill>
                <a:latin typeface="Segoe UI"/>
              </a:rPr>
              <a:t>Deadline in 3 days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34000" y="3028950"/>
            <a:ext cx="1524000" cy="476250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2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36576" bIns="73152"/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Design Workshop</a:t>
            </a:r>
          </a:p>
          <a:p>
            <a:pPr algn="l">
              <a:lnSpc>
                <a:spcPct val="112000"/>
              </a:lnSpc>
            </a:pPr>
            <a:r>
              <a:rPr sz="850" b="0">
                <a:solidFill>
                  <a:srgbClr val="B9BCE8"/>
                </a:solidFill>
                <a:latin typeface="Segoe UI"/>
              </a:rPr>
              <a:t>Tomorrow · Room 204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34000" y="3619500"/>
            <a:ext cx="1524000" cy="476250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2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36576" bIns="73152"/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Internship Drive</a:t>
            </a:r>
          </a:p>
          <a:p>
            <a:pPr algn="l">
              <a:lnSpc>
                <a:spcPct val="112000"/>
              </a:lnSpc>
            </a:pPr>
            <a:r>
              <a:rPr sz="850" b="0">
                <a:solidFill>
                  <a:srgbClr val="B9BCE8"/>
                </a:solidFill>
                <a:latin typeface="Segoe UI"/>
              </a:rPr>
              <a:t>Apply by Friday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91150" y="434340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3A3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3009900" y="2305050"/>
            <a:ext cx="2095500" cy="247650"/>
          </a:xfrm>
          <a:prstGeom prst="line">
            <a:avLst/>
          </a:prstGeom>
          <a:ln w="22225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009900" y="4076699"/>
            <a:ext cx="2095500" cy="190501"/>
          </a:xfrm>
          <a:prstGeom prst="line">
            <a:avLst/>
          </a:prstGeom>
          <a:ln w="22225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086600" y="2305050"/>
            <a:ext cx="2095500" cy="247650"/>
          </a:xfrm>
          <a:prstGeom prst="line">
            <a:avLst/>
          </a:prstGeom>
          <a:ln w="22225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7086600" y="4076699"/>
            <a:ext cx="2095500" cy="190501"/>
          </a:xfrm>
          <a:prstGeom prst="line">
            <a:avLst/>
          </a:prstGeom>
          <a:ln w="22225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33400" y="5676900"/>
            <a:ext cx="10972800" cy="5143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2000" y="5676900"/>
            <a:ext cx="142875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53ABD"/>
                </a:solidFill>
                <a:latin typeface="Segoe UI"/>
              </a:rPr>
              <a:t>THE APP ITSELF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90750" y="5772150"/>
            <a:ext cx="857250" cy="323850"/>
          </a:xfrm>
          <a:prstGeom prst="roundRect">
            <a:avLst>
              <a:gd name="adj" fmla="val 50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ctr">
              <a:lnSpc>
                <a:spcPct val="112000"/>
              </a:lnSpc>
            </a:pPr>
            <a:r>
              <a:rPr sz="900" b="1">
                <a:solidFill>
                  <a:srgbClr val="353ABD"/>
                </a:solidFill>
                <a:latin typeface="Segoe UI"/>
              </a:rPr>
              <a:t>Flutter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43250" y="5772150"/>
            <a:ext cx="1047749" cy="323850"/>
          </a:xfrm>
          <a:prstGeom prst="roundRect">
            <a:avLst>
              <a:gd name="adj" fmla="val 50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ctr">
              <a:lnSpc>
                <a:spcPct val="112000"/>
              </a:lnSpc>
            </a:pPr>
            <a:r>
              <a:rPr sz="900" b="1">
                <a:solidFill>
                  <a:srgbClr val="353ABD"/>
                </a:solidFill>
                <a:latin typeface="Segoe UI"/>
              </a:rPr>
              <a:t>Gemini AI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86250" y="5772150"/>
            <a:ext cx="952500" cy="323850"/>
          </a:xfrm>
          <a:prstGeom prst="roundRect">
            <a:avLst>
              <a:gd name="adj" fmla="val 50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ctr">
              <a:lnSpc>
                <a:spcPct val="112000"/>
              </a:lnSpc>
            </a:pPr>
            <a:r>
              <a:rPr sz="900" b="1">
                <a:solidFill>
                  <a:srgbClr val="353ABD"/>
                </a:solidFill>
                <a:latin typeface="Segoe UI"/>
              </a:rPr>
              <a:t>Supabase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34000" y="5772150"/>
            <a:ext cx="1143000" cy="323850"/>
          </a:xfrm>
          <a:prstGeom prst="roundRect">
            <a:avLst>
              <a:gd name="adj" fmla="val 50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ctr">
              <a:lnSpc>
                <a:spcPct val="112000"/>
              </a:lnSpc>
            </a:pPr>
            <a:r>
              <a:rPr sz="900" b="1">
                <a:solidFill>
                  <a:srgbClr val="353ABD"/>
                </a:solidFill>
                <a:latin typeface="Segoe UI"/>
              </a:rPr>
              <a:t>Cloudflare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72250" y="5772150"/>
            <a:ext cx="952500" cy="323850"/>
          </a:xfrm>
          <a:prstGeom prst="roundRect">
            <a:avLst>
              <a:gd name="adj" fmla="val 50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ctr">
              <a:lnSpc>
                <a:spcPct val="112000"/>
              </a:lnSpc>
            </a:pPr>
            <a:r>
              <a:rPr sz="900" b="1">
                <a:solidFill>
                  <a:srgbClr val="353ABD"/>
                </a:solidFill>
                <a:latin typeface="Segoe UI"/>
              </a:rPr>
              <a:t>Firebase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20000" y="5772150"/>
            <a:ext cx="762000" cy="323850"/>
          </a:xfrm>
          <a:prstGeom prst="roundRect">
            <a:avLst>
              <a:gd name="adj" fmla="val 50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ctr">
              <a:lnSpc>
                <a:spcPct val="112000"/>
              </a:lnSpc>
            </a:pPr>
            <a:r>
              <a:rPr sz="900" b="1">
                <a:solidFill>
                  <a:srgbClr val="353ABD"/>
                </a:solidFill>
                <a:latin typeface="Segoe UI"/>
              </a:rPr>
              <a:t>GitHub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77250" y="5772150"/>
            <a:ext cx="2857500" cy="323850"/>
          </a:xfrm>
          <a:prstGeom prst="roundRect">
            <a:avLst>
              <a:gd name="adj" fmla="val 50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ctr">
              <a:lnSpc>
                <a:spcPct val="112000"/>
              </a:lnSpc>
            </a:pPr>
            <a:r>
              <a:rPr sz="900" b="1">
                <a:solidFill>
                  <a:srgbClr val="CE8A1F"/>
                </a:solidFill>
                <a:latin typeface="Segoe UI"/>
              </a:rPr>
              <a:t>Android &amp; iOS · one codebase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3400" y="6457950"/>
            <a:ext cx="381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353ABD"/>
                </a:solidFill>
                <a:latin typeface="Segoe UI"/>
              </a:rPr>
              <a:t>CAMPUSSIGNAL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82250" y="6457950"/>
            <a:ext cx="12763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4A4A5C"/>
                </a:solidFill>
                <a:latin typeface="Segoe UI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457200"/>
            <a:ext cx="323850" cy="28575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390525"/>
            <a:ext cx="85725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F55D6"/>
                </a:solidFill>
                <a:latin typeface="Segoe UI"/>
              </a:rPr>
              <a:t>OUR DESIGN THINKING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704850"/>
            <a:ext cx="109728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1B1B23"/>
                </a:solidFill>
                <a:latin typeface="Segoe UI"/>
              </a:rPr>
              <a:t>From listening to students, to a working 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9650" y="1695450"/>
            <a:ext cx="1866899" cy="32956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66899"/>
            <a:ext cx="16002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2A93B"/>
                </a:solidFill>
                <a:latin typeface="Segoe UI"/>
              </a:rPr>
              <a:t>01 · EMPATHISE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2152650"/>
            <a:ext cx="400050" cy="400050"/>
          </a:xfrm>
          <a:prstGeom prst="ellipse">
            <a:avLst/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48662"/>
            <a:ext cx="400050" cy="2800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86050"/>
            <a:ext cx="1600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1B23"/>
                </a:solidFill>
                <a:latin typeface="Segoe UI"/>
              </a:rPr>
              <a:t>Listen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71800"/>
            <a:ext cx="16002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A4A5C"/>
                </a:solidFill>
                <a:latin typeface="Segoe UI"/>
              </a:rPr>
              <a:t>We spoke with students and watched how campus events are shared — and how easily they get missed.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267200"/>
            <a:ext cx="1600200" cy="590550"/>
          </a:xfrm>
          <a:prstGeom prst="roundRect">
            <a:avLst>
              <a:gd name="adj" fmla="val 12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4F55D6"/>
                </a:solidFill>
                <a:latin typeface="Segoe UI"/>
              </a:rPr>
              <a:t>WHAT WE PRODUCED</a:t>
            </a:r>
          </a:p>
          <a:p>
            <a:pPr algn="l">
              <a:lnSpc>
                <a:spcPct val="112000"/>
              </a:lnSpc>
            </a:pPr>
            <a:r>
              <a:rPr sz="950" b="1">
                <a:solidFill>
                  <a:srgbClr val="353ABD"/>
                </a:solidFill>
                <a:latin typeface="Segoe UI"/>
              </a:rPr>
              <a:t>Student conversations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05125" y="3333750"/>
            <a:ext cx="152400" cy="0"/>
          </a:xfrm>
          <a:prstGeom prst="line">
            <a:avLst/>
          </a:prstGeom>
          <a:ln w="25400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086100" y="1695450"/>
            <a:ext cx="1866899" cy="32956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19450" y="1866899"/>
            <a:ext cx="16002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2A93B"/>
                </a:solidFill>
                <a:latin typeface="Segoe UI"/>
              </a:rPr>
              <a:t>02 · DEFINE</a:t>
            </a:r>
          </a:p>
        </p:txBody>
      </p:sp>
      <p:sp>
        <p:nvSpPr>
          <p:cNvPr id="16" name="Oval 15"/>
          <p:cNvSpPr/>
          <p:nvPr/>
        </p:nvSpPr>
        <p:spPr>
          <a:xfrm>
            <a:off x="3219450" y="2152650"/>
            <a:ext cx="400050" cy="400050"/>
          </a:xfrm>
          <a:prstGeom prst="ellipse">
            <a:avLst/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19450" y="2248662"/>
            <a:ext cx="400050" cy="2800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9450" y="2686050"/>
            <a:ext cx="1600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1B23"/>
                </a:solidFill>
                <a:latin typeface="Segoe UI"/>
              </a:rPr>
              <a:t>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19450" y="2971800"/>
            <a:ext cx="16002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A4A5C"/>
                </a:solidFill>
                <a:latin typeface="Segoe UI"/>
              </a:rPr>
              <a:t>We framed one clear problem: scattered event information makes students miss real opportunities.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19450" y="4267200"/>
            <a:ext cx="1600200" cy="590550"/>
          </a:xfrm>
          <a:prstGeom prst="roundRect">
            <a:avLst>
              <a:gd name="adj" fmla="val 12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4F55D6"/>
                </a:solidFill>
                <a:latin typeface="Segoe UI"/>
              </a:rPr>
              <a:t>WHAT WE PRODUCED</a:t>
            </a:r>
          </a:p>
          <a:p>
            <a:pPr algn="l">
              <a:lnSpc>
                <a:spcPct val="112000"/>
              </a:lnSpc>
            </a:pPr>
            <a:r>
              <a:rPr sz="950" b="1">
                <a:solidFill>
                  <a:srgbClr val="353ABD"/>
                </a:solidFill>
                <a:latin typeface="Segoe UI"/>
              </a:rPr>
              <a:t>One problem statement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81575" y="3333750"/>
            <a:ext cx="152400" cy="0"/>
          </a:xfrm>
          <a:prstGeom prst="line">
            <a:avLst/>
          </a:prstGeom>
          <a:ln w="25400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62550" y="1695450"/>
            <a:ext cx="1866899" cy="32956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95900" y="1866899"/>
            <a:ext cx="16002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2A93B"/>
                </a:solidFill>
                <a:latin typeface="Segoe UI"/>
              </a:rPr>
              <a:t>03 · IDEATE</a:t>
            </a:r>
          </a:p>
        </p:txBody>
      </p:sp>
      <p:sp>
        <p:nvSpPr>
          <p:cNvPr id="24" name="Oval 23"/>
          <p:cNvSpPr/>
          <p:nvPr/>
        </p:nvSpPr>
        <p:spPr>
          <a:xfrm>
            <a:off x="5295900" y="2152650"/>
            <a:ext cx="400050" cy="400050"/>
          </a:xfrm>
          <a:prstGeom prst="ellipse">
            <a:avLst/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95900" y="2248662"/>
            <a:ext cx="400050" cy="2800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5900" y="2686050"/>
            <a:ext cx="1600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1B23"/>
                </a:solidFill>
                <a:latin typeface="Segoe UI"/>
              </a:rPr>
              <a:t>Imagine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95900" y="2971800"/>
            <a:ext cx="16002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A4A5C"/>
                </a:solidFill>
                <a:latin typeface="Segoe UI"/>
              </a:rPr>
              <a:t>We brainstormed many ideas and chose the strongest: a personal, easy-to-read campus event feed.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95900" y="4267200"/>
            <a:ext cx="1600200" cy="590550"/>
          </a:xfrm>
          <a:prstGeom prst="roundRect">
            <a:avLst>
              <a:gd name="adj" fmla="val 12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4F55D6"/>
                </a:solidFill>
                <a:latin typeface="Segoe UI"/>
              </a:rPr>
              <a:t>WHAT WE PRODUCED</a:t>
            </a:r>
          </a:p>
          <a:p>
            <a:pPr algn="l">
              <a:lnSpc>
                <a:spcPct val="112000"/>
              </a:lnSpc>
            </a:pPr>
            <a:r>
              <a:rPr sz="950" b="1">
                <a:solidFill>
                  <a:srgbClr val="353ABD"/>
                </a:solidFill>
                <a:latin typeface="Segoe UI"/>
              </a:rPr>
              <a:t>Idea shortlist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8025" y="3333750"/>
            <a:ext cx="152400" cy="0"/>
          </a:xfrm>
          <a:prstGeom prst="line">
            <a:avLst/>
          </a:prstGeom>
          <a:ln w="25400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239000" y="1695450"/>
            <a:ext cx="1866899" cy="32956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72350" y="1866899"/>
            <a:ext cx="16002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2A93B"/>
                </a:solidFill>
                <a:latin typeface="Segoe UI"/>
              </a:rPr>
              <a:t>04 · PROTOTYPE</a:t>
            </a:r>
          </a:p>
        </p:txBody>
      </p:sp>
      <p:sp>
        <p:nvSpPr>
          <p:cNvPr id="32" name="Oval 31"/>
          <p:cNvSpPr/>
          <p:nvPr/>
        </p:nvSpPr>
        <p:spPr>
          <a:xfrm>
            <a:off x="7372350" y="2152650"/>
            <a:ext cx="400050" cy="400050"/>
          </a:xfrm>
          <a:prstGeom prst="ellipse">
            <a:avLst/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72350" y="2248662"/>
            <a:ext cx="400050" cy="2800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2350" y="2686050"/>
            <a:ext cx="1600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1B23"/>
                </a:solidFill>
                <a:latin typeface="Segoe UI"/>
              </a:rPr>
              <a:t>Build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72350" y="2971800"/>
            <a:ext cx="16002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A4A5C"/>
                </a:solidFill>
                <a:latin typeface="Segoe UI"/>
              </a:rPr>
              <a:t>We designed every screen on paper, then built a real working version of the app.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72350" y="4267200"/>
            <a:ext cx="1600200" cy="590550"/>
          </a:xfrm>
          <a:prstGeom prst="roundRect">
            <a:avLst>
              <a:gd name="adj" fmla="val 12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4F55D6"/>
                </a:solidFill>
                <a:latin typeface="Segoe UI"/>
              </a:rPr>
              <a:t>WHAT WE PRODUCED</a:t>
            </a:r>
          </a:p>
          <a:p>
            <a:pPr algn="l">
              <a:lnSpc>
                <a:spcPct val="112000"/>
              </a:lnSpc>
            </a:pPr>
            <a:r>
              <a:rPr sz="950" b="1">
                <a:solidFill>
                  <a:srgbClr val="353ABD"/>
                </a:solidFill>
                <a:latin typeface="Segoe UI"/>
              </a:rPr>
              <a:t>Designs &amp; working app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34475" y="3333750"/>
            <a:ext cx="152400" cy="0"/>
          </a:xfrm>
          <a:prstGeom prst="line">
            <a:avLst/>
          </a:prstGeom>
          <a:ln w="25400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315450" y="1695450"/>
            <a:ext cx="1866899" cy="32956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48800" y="1866899"/>
            <a:ext cx="16002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2A93B"/>
                </a:solidFill>
                <a:latin typeface="Segoe UI"/>
              </a:rPr>
              <a:t>05 · TEST</a:t>
            </a:r>
          </a:p>
        </p:txBody>
      </p:sp>
      <p:sp>
        <p:nvSpPr>
          <p:cNvPr id="40" name="Oval 39"/>
          <p:cNvSpPr/>
          <p:nvPr/>
        </p:nvSpPr>
        <p:spPr>
          <a:xfrm>
            <a:off x="9448800" y="2152650"/>
            <a:ext cx="400050" cy="400050"/>
          </a:xfrm>
          <a:prstGeom prst="ellipse">
            <a:avLst/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48800" y="2248662"/>
            <a:ext cx="400050" cy="2800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48800" y="2686050"/>
            <a:ext cx="1600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1B23"/>
                </a:solidFill>
                <a:latin typeface="Segoe UI"/>
              </a:rPr>
              <a:t>Refine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48800" y="2971800"/>
            <a:ext cx="16002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A4A5C"/>
                </a:solidFill>
                <a:latin typeface="Segoe UI"/>
              </a:rPr>
              <a:t>Students tried the app, gave honest feedback, and we improved the design around their habits.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48800" y="4267200"/>
            <a:ext cx="1600200" cy="590550"/>
          </a:xfrm>
          <a:prstGeom prst="roundRect">
            <a:avLst>
              <a:gd name="adj" fmla="val 12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4F55D6"/>
                </a:solidFill>
                <a:latin typeface="Segoe UI"/>
              </a:rPr>
              <a:t>WHAT WE PRODUCED</a:t>
            </a:r>
          </a:p>
          <a:p>
            <a:pPr algn="l">
              <a:lnSpc>
                <a:spcPct val="112000"/>
              </a:lnSpc>
            </a:pPr>
            <a:r>
              <a:rPr sz="950" b="1">
                <a:solidFill>
                  <a:srgbClr val="353ABD"/>
                </a:solidFill>
                <a:latin typeface="Segoe UI"/>
              </a:rPr>
              <a:t>Feedback &amp; fixes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3400" y="5524500"/>
            <a:ext cx="10972800" cy="495299"/>
          </a:xfrm>
          <a:prstGeom prst="roundRect">
            <a:avLst>
              <a:gd name="adj" fmla="val 16000"/>
            </a:avLst>
          </a:prstGeom>
          <a:noFill/>
          <a:ln w="15875">
            <a:solidFill>
              <a:srgbClr val="6E7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3400" y="5524500"/>
            <a:ext cx="10972800" cy="4952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353ABD"/>
                </a:solidFill>
                <a:latin typeface="Segoe UI"/>
              </a:rPr>
              <a:t>Every stage started with students — and ended with a change they could feel.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3400" y="6457950"/>
            <a:ext cx="381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353ABD"/>
                </a:solidFill>
                <a:latin typeface="Segoe UI"/>
              </a:rPr>
              <a:t>CAMPUSSIGNAL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82250" y="6457950"/>
            <a:ext cx="12763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4A4A5C"/>
                </a:solidFill>
                <a:latin typeface="Segoe UI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457200"/>
            <a:ext cx="323850" cy="28575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390525"/>
            <a:ext cx="85725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F55D6"/>
                </a:solidFill>
                <a:latin typeface="Segoe UI"/>
              </a:rPr>
              <a:t>WHERE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704850"/>
            <a:ext cx="109728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1B1B23"/>
                </a:solidFill>
                <a:latin typeface="Segoe UI"/>
              </a:rPr>
              <a:t>A real, working app — with room to grow.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1600200"/>
            <a:ext cx="5353050" cy="34861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2950" y="1790700"/>
            <a:ext cx="342900" cy="342900"/>
          </a:xfrm>
          <a:prstGeom prst="roundRect">
            <a:avLst>
              <a:gd name="adj" fmla="val 24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8250" y="1847850"/>
            <a:ext cx="44005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1B23"/>
                </a:solidFill>
                <a:latin typeface="Segoe UI"/>
              </a:rPr>
              <a:t>Working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2950" y="2266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6800" y="2247900"/>
            <a:ext cx="46863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B23"/>
                </a:solidFill>
                <a:latin typeface="Segoe UI"/>
              </a:rPr>
              <a:t>Sign in with college email or Google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2950" y="2628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6800" y="2609850"/>
            <a:ext cx="46863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B23"/>
                </a:solidFill>
                <a:latin typeface="Segoe UI"/>
              </a:rPr>
              <a:t>Personalised event feed with filters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950" y="29908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6800" y="2971800"/>
            <a:ext cx="46863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B23"/>
                </a:solidFill>
                <a:latin typeface="Segoe UI"/>
              </a:rPr>
              <a:t>AI turns posters into event cards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2950" y="33528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3333750"/>
            <a:ext cx="46863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B23"/>
                </a:solidFill>
                <a:latin typeface="Segoe UI"/>
              </a:rPr>
              <a:t>Search, save, share and apply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2950" y="37147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6800" y="3695700"/>
            <a:ext cx="46863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B23"/>
                </a:solidFill>
                <a:latin typeface="Segoe UI"/>
              </a:rPr>
              <a:t>Calendar sync and deadline reminders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2950" y="407669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6800" y="4057650"/>
            <a:ext cx="46863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B23"/>
                </a:solidFill>
                <a:latin typeface="Segoe UI"/>
              </a:rPr>
              <a:t>Light &amp; dark themes, clear design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2950" y="44386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4419600"/>
            <a:ext cx="46863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B23"/>
                </a:solidFill>
                <a:latin typeface="Segoe UI"/>
              </a:rPr>
              <a:t>Updates delivered inside the app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150" y="1600200"/>
            <a:ext cx="5353050" cy="34861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62700" y="1790700"/>
            <a:ext cx="342900" cy="342900"/>
          </a:xfrm>
          <a:prstGeom prst="roundRect">
            <a:avLst>
              <a:gd name="adj" fmla="val 24000"/>
            </a:avLst>
          </a:prstGeom>
          <a:solidFill>
            <a:srgbClr val="CE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1847850"/>
            <a:ext cx="44005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1B23"/>
                </a:solidFill>
                <a:latin typeface="Segoe UI"/>
              </a:rPr>
              <a:t>Next steps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2700" y="2266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CE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86550" y="2247900"/>
            <a:ext cx="46863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B23"/>
                </a:solidFill>
                <a:latin typeface="Segoe UI"/>
              </a:rPr>
              <a:t>Broadcast alerts to every student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62700" y="2628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CE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86550" y="2609850"/>
            <a:ext cx="46863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B23"/>
                </a:solidFill>
                <a:latin typeface="Segoe UI"/>
              </a:rPr>
              <a:t>Admin tools for clubs and departments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62700" y="29908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CE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86550" y="2971800"/>
            <a:ext cx="46863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B23"/>
                </a:solidFill>
                <a:latin typeface="Segoe UI"/>
              </a:rPr>
              <a:t>Full iOS release and tablet layouts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62700" y="33528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CE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86550" y="3333750"/>
            <a:ext cx="46863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B23"/>
                </a:solidFill>
                <a:latin typeface="Segoe UI"/>
              </a:rPr>
              <a:t>More student feedback rounds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3400" y="5372100"/>
            <a:ext cx="10972800" cy="495299"/>
          </a:xfrm>
          <a:prstGeom prst="roundRect">
            <a:avLst>
              <a:gd name="adj" fmla="val 16000"/>
            </a:avLst>
          </a:prstGeom>
          <a:noFill/>
          <a:ln w="15875">
            <a:solidFill>
              <a:srgbClr val="6E7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3400" y="5372100"/>
            <a:ext cx="10972800" cy="4952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353ABD"/>
                </a:solidFill>
                <a:latin typeface="Segoe UI"/>
              </a:rPr>
              <a:t>We tested the real app on Android phones. </a:t>
            </a:r>
            <a:r>
              <a:rPr sz="1300" b="0">
                <a:solidFill>
                  <a:srgbClr val="4A4A5C"/>
                </a:solidFill>
                <a:latin typeface="Segoe UI"/>
              </a:rPr>
              <a:t>Every feature on the left is live today — not a mock-up.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3400" y="6457950"/>
            <a:ext cx="381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353ABD"/>
                </a:solidFill>
                <a:latin typeface="Segoe UI"/>
              </a:rPr>
              <a:t>CAMPUSSIGNAL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82250" y="6457950"/>
            <a:ext cx="12763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4A4A5C"/>
                </a:solidFill>
                <a:latin typeface="Segoe UI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3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p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0" y="609600"/>
            <a:ext cx="952500" cy="952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695450"/>
            <a:ext cx="12192000" cy="590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200" b="1">
                <a:solidFill>
                  <a:srgbClr val="FFFFFF"/>
                </a:solidFill>
                <a:latin typeface="Segoe UI"/>
              </a:rPr>
              <a:t>Let the right opportunities find </a:t>
            </a:r>
            <a:r>
              <a:rPr sz="4200" b="1">
                <a:solidFill>
                  <a:srgbClr val="F2A93B"/>
                </a:solidFill>
                <a:latin typeface="Segoe UI"/>
              </a:rPr>
              <a:t>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362200"/>
            <a:ext cx="12192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0">
                <a:solidFill>
                  <a:srgbClr val="D8DAFF"/>
                </a:solidFill>
                <a:latin typeface="Segoe UI"/>
              </a:rPr>
              <a:t>“Signal, not noise.”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71575" y="3028950"/>
            <a:ext cx="3143250" cy="1619250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2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62075" y="3238500"/>
            <a:ext cx="438150" cy="5715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62075" y="3486150"/>
            <a:ext cx="27622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One trusted 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62075" y="3886200"/>
            <a:ext cx="276225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B9BCE8"/>
                </a:solidFill>
                <a:latin typeface="Segoe UI"/>
              </a:rPr>
              <a:t>Every campus opportunity — hackathon to internship — in a single, calm feed.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4375" y="3028950"/>
            <a:ext cx="3143250" cy="1619250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2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14875" y="3238500"/>
            <a:ext cx="438150" cy="5715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4875" y="3486150"/>
            <a:ext cx="27622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No deadline missed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4875" y="3886200"/>
            <a:ext cx="276225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B9BCE8"/>
                </a:solidFill>
                <a:latin typeface="Segoe UI"/>
              </a:rPr>
              <a:t>Students spend less time hunting and more time showing 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77175" y="3028950"/>
            <a:ext cx="3143250" cy="1619250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2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67674" y="3238500"/>
            <a:ext cx="438150" cy="5715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7674" y="3486150"/>
            <a:ext cx="27622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Designed with students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7674" y="3886200"/>
            <a:ext cx="276225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B9BCE8"/>
                </a:solidFill>
                <a:latin typeface="Segoe UI"/>
              </a:rPr>
              <a:t>Built through listening, prototyping and honest feedback — the design-thinking way.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43100" y="5105400"/>
            <a:ext cx="1066800" cy="381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D8DAFF"/>
                </a:solidFill>
                <a:latin typeface="Segoe UI"/>
              </a:rPr>
              <a:t>THANK YOU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62300" y="5105400"/>
            <a:ext cx="4114800" cy="381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D8DAFF"/>
                </a:solidFill>
                <a:latin typeface="Segoe UI"/>
              </a:rPr>
              <a:t>GROUP 4 · ELECTRONICS &amp; COMMUNICATION ENGINEERING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29500" y="5105400"/>
            <a:ext cx="2819400" cy="381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73152"/>
          <a:lstStyle/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D8DAFF"/>
                </a:solidFill>
                <a:latin typeface="Segoe UI"/>
              </a:rPr>
              <a:t>ST. XAVIER’S UNIVERSITY, KOLKATA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286500"/>
            <a:ext cx="12192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4A4FA0"/>
                </a:solidFill>
                <a:latin typeface="Segoe UI"/>
              </a:rPr>
              <a:t>● ● ● ● ● ● ● ● ● 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